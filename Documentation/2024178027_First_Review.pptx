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6" r:id="rId6"/>
    <p:sldId id="274" r:id="rId7"/>
    <p:sldId id="278" r:id="rId8"/>
    <p:sldId id="277" r:id="rId9"/>
    <p:sldId id="279" r:id="rId10"/>
    <p:sldId id="260" r:id="rId11"/>
    <p:sldId id="280" r:id="rId12"/>
    <p:sldId id="268" r:id="rId13"/>
    <p:sldId id="281" r:id="rId14"/>
    <p:sldId id="269" r:id="rId15"/>
    <p:sldId id="282" r:id="rId16"/>
    <p:sldId id="270" r:id="rId17"/>
    <p:sldId id="283" r:id="rId18"/>
    <p:sldId id="271" r:id="rId19"/>
    <p:sldId id="284" r:id="rId20"/>
    <p:sldId id="272" r:id="rId21"/>
    <p:sldId id="261" r:id="rId22"/>
    <p:sldId id="263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2789C-5F6B-4AA6-8508-763937A8671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D2F49-4D9B-4F59-84F3-9DD512BE5190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0478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2789C-5F6B-4AA6-8508-763937A8671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D2F49-4D9B-4F59-84F3-9DD512BE51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66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2789C-5F6B-4AA6-8508-763937A8671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D2F49-4D9B-4F59-84F3-9DD512BE5190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062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2789C-5F6B-4AA6-8508-763937A8671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D2F49-4D9B-4F59-84F3-9DD512BE51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1878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2789C-5F6B-4AA6-8508-763937A8671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D2F49-4D9B-4F59-84F3-9DD512BE51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661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2789C-5F6B-4AA6-8508-763937A8671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D2F49-4D9B-4F59-84F3-9DD512BE51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208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2789C-5F6B-4AA6-8508-763937A8671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D2F49-4D9B-4F59-84F3-9DD512BE51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3761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4F2789C-5F6B-4AA6-8508-763937A8671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40D2F49-4D9B-4F59-84F3-9DD512BE51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66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2789C-5F6B-4AA6-8508-763937A8671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D2F49-4D9B-4F59-84F3-9DD512BE51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95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2789C-5F6B-4AA6-8508-763937A8671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D2F49-4D9B-4F59-84F3-9DD512BE51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038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2789C-5F6B-4AA6-8508-763937A8671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D2F49-4D9B-4F59-84F3-9DD512BE51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0086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4F2789C-5F6B-4AA6-8508-763937A8671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40D2F49-4D9B-4F59-84F3-9DD512BE5190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5139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searchgate.net/publication/360734349_Automatic_Short_Answer_Grading_via_BERT-based_Deep_Neural_Networks?utm_source=chatgpt.com" TargetMode="External"/><Relationship Id="rId3" Type="http://schemas.openxmlformats.org/officeDocument/2006/relationships/hyperlink" Target="https://educationaldatamining.org/EDM2021/virtual/static/pdf/EDM21_paper_149.pdf?utm_source=chatgpt.com" TargetMode="External"/><Relationship Id="rId7" Type="http://schemas.openxmlformats.org/officeDocument/2006/relationships/hyperlink" Target="https://arxiv.org/html/2407.12818v1?utm_source=chatgpt.com" TargetMode="External"/><Relationship Id="rId2" Type="http://schemas.openxmlformats.org/officeDocument/2006/relationships/hyperlink" Target="https://aclanthology.org/2023.bea-1.29/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isem-journal.com/index.php/journal/article/view/11686?utm_source=chatgpt.com" TargetMode="External"/><Relationship Id="rId5" Type="http://schemas.openxmlformats.org/officeDocument/2006/relationships/hyperlink" Target="https://files.eric.ed.gov/fulltext/EJ1424258.pdf?utm_source=chatgpt.com" TargetMode="External"/><Relationship Id="rId4" Type="http://schemas.openxmlformats.org/officeDocument/2006/relationships/hyperlink" Target="https://pmc.ncbi.nlm.nih.gov/articles/PMC7334737/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-780599"/>
            <a:ext cx="10058400" cy="4014866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chemeClr val="tx1"/>
                </a:solidFill>
                <a:latin typeface="CAT Neuzeit"/>
                <a:ea typeface="CAT Neuzeit"/>
                <a:cs typeface="CAT Neuzeit"/>
                <a:sym typeface="CAT Neuzeit"/>
              </a:rPr>
              <a:t>AUTOMATIC EVALUATION OF SHORT DESCRIPTIVE </a:t>
            </a:r>
            <a:r>
              <a:rPr lang="en-US" sz="4400">
                <a:solidFill>
                  <a:schemeClr val="tx1"/>
                </a:solidFill>
                <a:latin typeface="CAT Neuzeit"/>
                <a:ea typeface="CAT Neuzeit"/>
                <a:cs typeface="CAT Neuzeit"/>
                <a:sym typeface="CAT Neuzeit"/>
              </a:rPr>
              <a:t>ANSWERS </a:t>
            </a:r>
            <a:endParaRPr lang="en-IN" sz="4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3C3B84-A9DA-D84D-6636-D1220A6109AF}"/>
              </a:ext>
            </a:extLst>
          </p:cNvPr>
          <p:cNvSpPr txBox="1"/>
          <p:nvPr/>
        </p:nvSpPr>
        <p:spPr>
          <a:xfrm>
            <a:off x="1175657" y="4562669"/>
            <a:ext cx="99495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                                                                                                       	 MANIMEGALA P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 . SENDHILKUMAR                                                                                      2024178027 MCA(REG)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IST,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Anna University</a:t>
            </a:r>
          </a:p>
        </p:txBody>
      </p:sp>
    </p:spTree>
    <p:extLst>
      <p:ext uri="{BB962C8B-B14F-4D97-AF65-F5344CB8AC3E}">
        <p14:creationId xmlns:p14="http://schemas.microsoft.com/office/powerpoint/2010/main" val="4110305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BA2078-31B9-5003-BD62-399FC58EED83}"/>
              </a:ext>
            </a:extLst>
          </p:cNvPr>
          <p:cNvSpPr txBox="1"/>
          <p:nvPr/>
        </p:nvSpPr>
        <p:spPr>
          <a:xfrm>
            <a:off x="1358537" y="1916975"/>
            <a:ext cx="9989352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/>
              <a:t>Descriptive questions: measure conceptual understanding, reasoning &amp; clarity</a:t>
            </a:r>
          </a:p>
          <a:p>
            <a:endParaRPr lang="en-US" sz="2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/>
              <a:t>Online learning &amp; large exams: manual evaluation of concept-rich answers is: 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2100" dirty="0"/>
              <a:t>Time-consuming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2100" dirty="0"/>
              <a:t>Inconsistent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2100" dirty="0"/>
              <a:t>Non-scalable</a:t>
            </a:r>
          </a:p>
          <a:p>
            <a:pPr lvl="2"/>
            <a:endParaRPr lang="en-US" sz="2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/>
              <a:t>Need: Automated evaluation for consistency, speed &amp; instant feedback</a:t>
            </a:r>
          </a:p>
          <a:p>
            <a:endParaRPr lang="en-US" sz="2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/>
              <a:t>Key success factor: must reliably judge conceptual depth &amp; correctness, mirroring human expert standards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6452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9795" y="209977"/>
            <a:ext cx="10058400" cy="1450757"/>
          </a:xfrm>
        </p:spPr>
        <p:txBody>
          <a:bodyPr/>
          <a:lstStyle/>
          <a:p>
            <a:pPr algn="ctr"/>
            <a:r>
              <a:rPr lang="en-IN" b="1" dirty="0"/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83F1AB-208A-FC5E-29C8-1F39C7CFF247}"/>
              </a:ext>
            </a:extLst>
          </p:cNvPr>
          <p:cNvSpPr txBox="1"/>
          <p:nvPr/>
        </p:nvSpPr>
        <p:spPr>
          <a:xfrm>
            <a:off x="587830" y="1726163"/>
            <a:ext cx="11136084" cy="447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61339" lvl="1" indent="-280669">
              <a:lnSpc>
                <a:spcPts val="3639"/>
              </a:lnSpc>
              <a:buFont typeface="Arial"/>
              <a:buChar char="•"/>
            </a:pPr>
            <a:r>
              <a:rPr lang="en-US" sz="2000" dirty="0">
                <a:sym typeface="Open Sans"/>
              </a:rPr>
              <a:t>In real classroom and online exam scenarios, teachers evaluate descriptive answers by checking key concepts, assigning partial credit, and providing feedback.</a:t>
            </a:r>
          </a:p>
          <a:p>
            <a:pPr marL="543670" lvl="1" indent="-271835">
              <a:lnSpc>
                <a:spcPts val="3525"/>
              </a:lnSpc>
              <a:buFont typeface="Arial"/>
              <a:buChar char="•"/>
            </a:pPr>
            <a:r>
              <a:rPr lang="en-US" sz="2000" dirty="0">
                <a:sym typeface="Open Sans"/>
              </a:rPr>
              <a:t>Existing automatic grading systems(Eg - e-raters, </a:t>
            </a:r>
            <a:r>
              <a:rPr lang="en-US" sz="2000" dirty="0" err="1">
                <a:sym typeface="Open Sans"/>
              </a:rPr>
              <a:t>Gradescope</a:t>
            </a:r>
            <a:r>
              <a:rPr lang="en-US" sz="2000" dirty="0">
                <a:sym typeface="Open Sans"/>
              </a:rPr>
              <a:t>)primarily use similarity or classification-based models, which:</a:t>
            </a:r>
          </a:p>
          <a:p>
            <a:pPr marL="1631010" lvl="3" indent="-407753">
              <a:lnSpc>
                <a:spcPts val="3525"/>
              </a:lnSpc>
              <a:buAutoNum type="romanLcPeriod"/>
            </a:pPr>
            <a:r>
              <a:rPr lang="en-US" sz="2000" dirty="0">
                <a:sym typeface="Open Sans"/>
              </a:rPr>
              <a:t>Output only a final score -  Do not identify missing or partially covered concepts</a:t>
            </a:r>
          </a:p>
          <a:p>
            <a:pPr marL="1631010" lvl="3" indent="-407753">
              <a:lnSpc>
                <a:spcPts val="3525"/>
              </a:lnSpc>
              <a:buAutoNum type="romanLcPeriod"/>
            </a:pPr>
            <a:r>
              <a:rPr lang="en-US" sz="2000" dirty="0">
                <a:sym typeface="Open Sans"/>
              </a:rPr>
              <a:t>Provide no clear explanation for the assigned marks</a:t>
            </a:r>
          </a:p>
          <a:p>
            <a:pPr marL="561339" lvl="1" indent="-280669">
              <a:lnSpc>
                <a:spcPts val="3639"/>
              </a:lnSpc>
              <a:buFont typeface="Arial"/>
              <a:buChar char="•"/>
            </a:pPr>
            <a:r>
              <a:rPr lang="en-US" sz="2000" dirty="0">
                <a:sym typeface="Open Sans"/>
              </a:rPr>
              <a:t>Therefore, the problem is to design an automatic evaluation system that can analyze answers at the concept level, assign partial credit, and generate explainable, teacher-like feedback while remaining scalable which was missing in the existing system.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8901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BASE PAPER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0D1B07-34BD-CFB2-81BA-AA45B744F910}"/>
              </a:ext>
            </a:extLst>
          </p:cNvPr>
          <p:cNvSpPr txBox="1"/>
          <p:nvPr/>
        </p:nvSpPr>
        <p:spPr>
          <a:xfrm>
            <a:off x="1097280" y="2182646"/>
            <a:ext cx="9862457" cy="363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1835" lvl="1">
              <a:lnSpc>
                <a:spcPts val="3525"/>
              </a:lnSpc>
            </a:pPr>
            <a:r>
              <a:rPr lang="en-US" sz="2400" dirty="0">
                <a:sym typeface="Open Sans"/>
              </a:rPr>
              <a:t>Paraphrase Generation and Supervised Learning for Improved ASAG (</a:t>
            </a:r>
            <a:r>
              <a:rPr lang="en-US" sz="2400" dirty="0"/>
              <a:t>International Journal of Artificial Intelligence in Education – 2024,Volume -34,Issue - 1</a:t>
            </a:r>
            <a:r>
              <a:rPr lang="en-US" sz="2400" dirty="0">
                <a:sym typeface="Open Sans"/>
              </a:rPr>
              <a:t>)</a:t>
            </a:r>
          </a:p>
          <a:p>
            <a:pPr marL="1071935" lvl="2" indent="-342900">
              <a:lnSpc>
                <a:spcPts val="3525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ym typeface="Open Sans"/>
              </a:rPr>
              <a:t>Domain - </a:t>
            </a:r>
            <a:r>
              <a:rPr lang="en-IN" sz="2000" dirty="0"/>
              <a:t>NLP-based Educational Assessment</a:t>
            </a:r>
          </a:p>
          <a:p>
            <a:pPr marL="1071935" lvl="2" indent="-342900">
              <a:lnSpc>
                <a:spcPts val="3525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Dataset Used - Quora (English), Al-Raisi (Arabic), Mohler ASAG</a:t>
            </a:r>
          </a:p>
          <a:p>
            <a:pPr marL="1071935" lvl="2" indent="-342900">
              <a:lnSpc>
                <a:spcPts val="3525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Approach - Paraphrase-augmented reference-based grading</a:t>
            </a:r>
          </a:p>
          <a:p>
            <a:pPr marL="1071935" lvl="2" indent="-342900">
              <a:lnSpc>
                <a:spcPts val="3525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Algorithms - </a:t>
            </a:r>
            <a:r>
              <a:rPr lang="en-US" sz="2000" dirty="0"/>
              <a:t>GRU Encoder-Decoder with Attention, Ridge Regression</a:t>
            </a:r>
          </a:p>
          <a:p>
            <a:pPr marL="1071935" lvl="2" indent="-342900">
              <a:lnSpc>
                <a:spcPts val="3525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Challenges - </a:t>
            </a:r>
            <a:r>
              <a:rPr lang="en-IN" sz="2000" dirty="0"/>
              <a:t>Linguistic diversity, scalability, Arabic NLP limitations</a:t>
            </a:r>
          </a:p>
        </p:txBody>
      </p:sp>
    </p:spTree>
    <p:extLst>
      <p:ext uri="{BB962C8B-B14F-4D97-AF65-F5344CB8AC3E}">
        <p14:creationId xmlns:p14="http://schemas.microsoft.com/office/powerpoint/2010/main" val="1483441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639E2-D032-0988-3546-7B22351C9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483924-7551-6654-8332-74A795983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4370"/>
            <a:ext cx="12192000" cy="550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724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18301-5E3D-2036-A9ED-AC0990AA3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3E707-E7DF-B194-F15B-B8B6C5516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049" y="434824"/>
            <a:ext cx="10058400" cy="868357"/>
          </a:xfrm>
        </p:spPr>
        <p:txBody>
          <a:bodyPr/>
          <a:lstStyle/>
          <a:p>
            <a:pPr algn="ctr"/>
            <a:r>
              <a:rPr lang="en-IN" b="1" dirty="0"/>
              <a:t>DATASET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8A8560-BFD4-8466-E65B-0D62B6809FA2}"/>
              </a:ext>
            </a:extLst>
          </p:cNvPr>
          <p:cNvSpPr txBox="1"/>
          <p:nvPr/>
        </p:nvSpPr>
        <p:spPr>
          <a:xfrm>
            <a:off x="831849" y="1786466"/>
            <a:ext cx="10167169" cy="2292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1835" lvl="1">
              <a:lnSpc>
                <a:spcPts val="3525"/>
              </a:lnSpc>
            </a:pPr>
            <a:r>
              <a:rPr lang="en-US" sz="2000" b="1" dirty="0"/>
              <a:t>Dataset Name</a:t>
            </a:r>
            <a:r>
              <a:rPr lang="en-US" sz="2000" dirty="0"/>
              <a:t>:  Custom Academic Short Answer Grading Dataset(ASAG-Concept)</a:t>
            </a:r>
          </a:p>
          <a:p>
            <a:pPr marL="271835" lvl="1">
              <a:lnSpc>
                <a:spcPts val="3525"/>
              </a:lnSpc>
            </a:pPr>
            <a:r>
              <a:rPr lang="en-IN" sz="2000" b="1" dirty="0"/>
              <a:t>Dataset Source: :</a:t>
            </a:r>
            <a:r>
              <a:rPr lang="en-IN" sz="2000" dirty="0"/>
              <a:t> AI-generated synthetic student answer dataset.</a:t>
            </a:r>
            <a:endParaRPr lang="en-US" sz="2000" dirty="0"/>
          </a:p>
          <a:p>
            <a:pPr marL="271835" lvl="1">
              <a:lnSpc>
                <a:spcPts val="3525"/>
              </a:lnSpc>
            </a:pPr>
            <a:r>
              <a:rPr lang="en-US" sz="2000" b="1" dirty="0"/>
              <a:t>Input Features: </a:t>
            </a:r>
          </a:p>
          <a:p>
            <a:pPr marL="729035" lvl="2">
              <a:lnSpc>
                <a:spcPts val="3525"/>
              </a:lnSpc>
            </a:pPr>
            <a:r>
              <a:rPr lang="en-US" sz="2000" dirty="0" err="1"/>
              <a:t>Question_Id</a:t>
            </a:r>
            <a:r>
              <a:rPr lang="en-US" sz="2000" dirty="0"/>
              <a:t> , </a:t>
            </a:r>
            <a:r>
              <a:rPr lang="en-US" sz="2000" dirty="0" err="1"/>
              <a:t>Answer_Id</a:t>
            </a:r>
            <a:r>
              <a:rPr lang="en-US" sz="2000" dirty="0"/>
              <a:t>, Question, Model Answer , Student Answer, Human Score</a:t>
            </a:r>
          </a:p>
          <a:p>
            <a:pPr marL="729035" lvl="2">
              <a:lnSpc>
                <a:spcPts val="3525"/>
              </a:lnSpc>
            </a:pP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A4DA64-3212-2932-AE15-7B95548237F8}"/>
              </a:ext>
            </a:extLst>
          </p:cNvPr>
          <p:cNvSpPr txBox="1"/>
          <p:nvPr/>
        </p:nvSpPr>
        <p:spPr>
          <a:xfrm>
            <a:off x="1066799" y="3722904"/>
            <a:ext cx="85005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Dataset Size </a:t>
            </a:r>
            <a:r>
              <a:rPr lang="en-IN" sz="2000" dirty="0"/>
              <a:t>: 	Number of Question – 40 to 50 Question</a:t>
            </a:r>
          </a:p>
          <a:p>
            <a:r>
              <a:rPr lang="en-IN" sz="2000" dirty="0"/>
              <a:t>				Answers per question – 20 to 30 Answers</a:t>
            </a:r>
          </a:p>
          <a:p>
            <a:r>
              <a:rPr lang="en-IN" sz="2000" dirty="0"/>
              <a:t>				Total Student answer - ~ 500+</a:t>
            </a:r>
          </a:p>
          <a:p>
            <a:r>
              <a:rPr lang="en-IN" sz="2000" dirty="0"/>
              <a:t>				Score range: 0 to 10</a:t>
            </a:r>
          </a:p>
          <a:p>
            <a:endParaRPr lang="en-IN" sz="2000" dirty="0"/>
          </a:p>
          <a:p>
            <a:r>
              <a:rPr lang="en-IN" sz="2000" b="1" dirty="0"/>
              <a:t>Dataset Format:   </a:t>
            </a:r>
            <a:r>
              <a:rPr lang="en-IN" sz="2000" dirty="0"/>
              <a:t>CSV</a:t>
            </a:r>
          </a:p>
        </p:txBody>
      </p:sp>
    </p:spTree>
    <p:extLst>
      <p:ext uri="{BB962C8B-B14F-4D97-AF65-F5344CB8AC3E}">
        <p14:creationId xmlns:p14="http://schemas.microsoft.com/office/powerpoint/2010/main" val="151751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09708-B131-50F2-DED2-3D0A0BFA8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USER INTERFACE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9D1CF-0ADB-CDA9-F9E9-F33F00F91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3423920" cy="4023360"/>
          </a:xfrm>
        </p:spPr>
        <p:txBody>
          <a:bodyPr/>
          <a:lstStyle/>
          <a:p>
            <a:r>
              <a:rPr lang="en-IN" sz="1800" dirty="0">
                <a:solidFill>
                  <a:schemeClr val="tx1"/>
                </a:solidFill>
              </a:rPr>
              <a:t>Input : </a:t>
            </a:r>
          </a:p>
          <a:p>
            <a:pPr lvl="1"/>
            <a:r>
              <a:rPr lang="en-IN" dirty="0">
                <a:solidFill>
                  <a:schemeClr val="tx1"/>
                </a:solidFill>
              </a:rPr>
              <a:t>User Credentials</a:t>
            </a:r>
          </a:p>
          <a:p>
            <a:pPr lvl="1"/>
            <a:r>
              <a:rPr lang="en-IN" dirty="0">
                <a:solidFill>
                  <a:schemeClr val="tx1"/>
                </a:solidFill>
              </a:rPr>
              <a:t>Questions &amp; Answers</a:t>
            </a:r>
          </a:p>
          <a:p>
            <a:pPr lvl="1"/>
            <a:r>
              <a:rPr lang="en-IN" dirty="0">
                <a:solidFill>
                  <a:schemeClr val="tx1"/>
                </a:solidFill>
              </a:rPr>
              <a:t>Maximum Marks</a:t>
            </a:r>
          </a:p>
          <a:p>
            <a:pPr lvl="1"/>
            <a:endParaRPr lang="en-IN" dirty="0">
              <a:solidFill>
                <a:schemeClr val="tx1"/>
              </a:solidFill>
            </a:endParaRPr>
          </a:p>
          <a:p>
            <a:pPr lvl="1"/>
            <a:endParaRPr lang="en-IN" dirty="0">
              <a:solidFill>
                <a:schemeClr val="tx1"/>
              </a:solidFill>
            </a:endParaRPr>
          </a:p>
          <a:p>
            <a:pPr marL="201168" lvl="1" indent="0">
              <a:buNone/>
            </a:pPr>
            <a:r>
              <a:rPr lang="en-IN" dirty="0">
                <a:solidFill>
                  <a:schemeClr val="tx1"/>
                </a:solidFill>
              </a:rPr>
              <a:t>Output : </a:t>
            </a:r>
          </a:p>
          <a:p>
            <a:pPr marL="201168" lvl="1" indent="0">
              <a:buNone/>
            </a:pPr>
            <a:r>
              <a:rPr lang="en-IN" dirty="0">
                <a:solidFill>
                  <a:schemeClr val="tx1"/>
                </a:solidFill>
              </a:rPr>
              <a:t>Displays final normalized score</a:t>
            </a:r>
          </a:p>
          <a:p>
            <a:pPr marL="201168" lvl="1" indent="0">
              <a:buNone/>
            </a:pPr>
            <a:r>
              <a:rPr lang="en-US" dirty="0">
                <a:solidFill>
                  <a:schemeClr val="tx1"/>
                </a:solidFill>
              </a:rPr>
              <a:t>Presents evaluation summaries and visual indicators</a:t>
            </a:r>
            <a:endParaRPr lang="en-IN" dirty="0">
              <a:solidFill>
                <a:schemeClr val="tx1"/>
              </a:solidFill>
            </a:endParaRPr>
          </a:p>
          <a:p>
            <a:pPr lvl="1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05C7AD-AD2B-91C6-3B6A-5F2C5D18FC0B}"/>
              </a:ext>
            </a:extLst>
          </p:cNvPr>
          <p:cNvSpPr txBox="1"/>
          <p:nvPr/>
        </p:nvSpPr>
        <p:spPr>
          <a:xfrm>
            <a:off x="3627120" y="2458720"/>
            <a:ext cx="4378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Process:</a:t>
            </a:r>
          </a:p>
          <a:p>
            <a:endParaRPr lang="en-IN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2D5AF4D-A6A4-64F1-A18C-00651AE0F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408" y="1963538"/>
            <a:ext cx="5427312" cy="3905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Process:</a:t>
            </a: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Displays login interface and identifies user role (Student / Teacher)</a:t>
            </a:r>
          </a:p>
          <a:p>
            <a:pPr lvl="0" defTabSz="91440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Redirects users to role-specific dashboards</a:t>
            </a:r>
          </a:p>
          <a:p>
            <a:pPr lvl="0" defTabSz="91440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Collects question, model answer, and grading parameters from teacher</a:t>
            </a:r>
          </a:p>
          <a:p>
            <a:pPr lvl="0" defTabSz="91440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Sends collected inputs to backend via Flask route handler</a:t>
            </a:r>
          </a:p>
          <a:p>
            <a:pPr lvl="0" defTabSz="91440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Waits for backend response containing score and feedback</a:t>
            </a:r>
          </a:p>
          <a:p>
            <a:pPr lvl="0" defTabSz="91440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489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6D07B-4C36-C289-893D-9A0D53C8B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AF6B04-B920-604D-E7CA-EFCCCBFA059F}"/>
              </a:ext>
            </a:extLst>
          </p:cNvPr>
          <p:cNvSpPr txBox="1"/>
          <p:nvPr/>
        </p:nvSpPr>
        <p:spPr>
          <a:xfrm>
            <a:off x="1071406" y="2281874"/>
            <a:ext cx="50245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D6E2C5-C9B7-B1EF-5A5D-B83A78E01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960" y="0"/>
            <a:ext cx="5699286" cy="625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409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E3949-D83A-4DA1-1601-408D044D1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0487E-D302-5A1F-3728-444304BB0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382824"/>
            <a:ext cx="10058400" cy="1450757"/>
          </a:xfrm>
        </p:spPr>
        <p:txBody>
          <a:bodyPr/>
          <a:lstStyle/>
          <a:p>
            <a:r>
              <a:rPr lang="en-IN" dirty="0"/>
              <a:t>PREPROCESSING MODULE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F9C2C612-0021-5C77-EF50-A261CDD22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240" y="2198801"/>
            <a:ext cx="359664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Question ID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Raw model answer 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Raw student answer 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format: CSV /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DataFrame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</a:t>
            </a:r>
          </a:p>
          <a:p>
            <a:r>
              <a:rPr lang="en-US" dirty="0"/>
              <a:t>Output format: CSV / </a:t>
            </a:r>
            <a:r>
              <a:rPr lang="en-US" dirty="0" err="1"/>
              <a:t>DataFrame</a:t>
            </a:r>
            <a:r>
              <a:rPr lang="en-US" dirty="0"/>
              <a:t> with new columns</a:t>
            </a:r>
          </a:p>
          <a:p>
            <a:r>
              <a:rPr lang="en-US" dirty="0" err="1"/>
              <a:t>clean_model_answer</a:t>
            </a:r>
            <a:endParaRPr lang="en-US" dirty="0"/>
          </a:p>
          <a:p>
            <a:r>
              <a:rPr lang="en-US" dirty="0" err="1"/>
              <a:t>clean_student_answer</a:t>
            </a: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05B6E2B7-4CFF-4164-A117-4167C486A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480" y="1938795"/>
            <a:ext cx="6024880" cy="4213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PROCESS:</a:t>
            </a: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Converts all text to lowercase for uniform comparison</a:t>
            </a: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Removes noise such as special characters, extra spaces, and irrelevant symbols</a:t>
            </a: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Preserves important technical terms and programming symbols</a:t>
            </a: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Expands common abbreviations and corrects basic spelling and typographical errors</a:t>
            </a: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Applies regular expressions and dictionary-based corrections</a:t>
            </a: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Logs preprocessing steps, errors, and statistics for monitoring and debugging</a:t>
            </a:r>
          </a:p>
        </p:txBody>
      </p:sp>
    </p:spTree>
    <p:extLst>
      <p:ext uri="{BB962C8B-B14F-4D97-AF65-F5344CB8AC3E}">
        <p14:creationId xmlns:p14="http://schemas.microsoft.com/office/powerpoint/2010/main" val="2679978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1F4685-784B-974A-9A3A-B15C5B84C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" y="441959"/>
            <a:ext cx="10789920" cy="5364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732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27785-D27E-4972-F9C8-71F10EBB7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45723-48CE-5535-B8CE-1856D2A3C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382824"/>
            <a:ext cx="10058400" cy="1450757"/>
          </a:xfrm>
        </p:spPr>
        <p:txBody>
          <a:bodyPr/>
          <a:lstStyle/>
          <a:p>
            <a:r>
              <a:rPr lang="en-IN" dirty="0"/>
              <a:t>CONCEPT EXTRACTION MODULE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78A56E0E-E6B0-7CB9-CB99-091CFD1DB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240" y="2614300"/>
            <a:ext cx="359664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Question ID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dirty="0"/>
              <a:t>Cleaned Model Answer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dirty="0"/>
              <a:t>Concept Cache (JSON)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Normalized list of key concepts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Output format: JSON / Dictionary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Passed to concept–sentence matching module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9B800E9-B66E-46FA-6ED8-D3CD1C44A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8318" y="1938795"/>
            <a:ext cx="4638322" cy="4213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PROCESS:</a:t>
            </a: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Checks concept cache using Question ID</a:t>
            </a: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concepts exist → retrieves from cache</a:t>
            </a: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Else extracts key concepts from model answer</a:t>
            </a: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Offline: Keyword and dictionary-based extraction</a:t>
            </a: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Online: LLM-based concept extraction(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Ollama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Normalizes extracted concepts (case, abbreviations, duplicates)</a:t>
            </a: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concepts in cache for reuse</a:t>
            </a:r>
          </a:p>
        </p:txBody>
      </p:sp>
    </p:spTree>
    <p:extLst>
      <p:ext uri="{BB962C8B-B14F-4D97-AF65-F5344CB8AC3E}">
        <p14:creationId xmlns:p14="http://schemas.microsoft.com/office/powerpoint/2010/main" val="2463145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3151D-2726-EDF4-5670-509E3853E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47A963-3009-74F9-0AF7-B6A89F1C94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976" y="0"/>
            <a:ext cx="7287208" cy="655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911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99593-68C8-E6A1-A694-5A8A83B6B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39B64-F728-31FF-CA10-064E249B9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382824"/>
            <a:ext cx="10058400" cy="1450757"/>
          </a:xfrm>
        </p:spPr>
        <p:txBody>
          <a:bodyPr/>
          <a:lstStyle/>
          <a:p>
            <a:r>
              <a:rPr lang="en-IN" dirty="0"/>
              <a:t>ANSWER SEGMENTATION MODULE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23FB6739-ECAA-3408-E61D-4DCC1359E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7680" y="2442815"/>
            <a:ext cx="359664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dirty="0"/>
              <a:t>Cleaned student answer text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Question ID and Answer ID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dirty="0"/>
              <a:t>Input format: JSON / </a:t>
            </a:r>
            <a:r>
              <a:rPr lang="en-IN" dirty="0" err="1"/>
              <a:t>DataFrame</a:t>
            </a:r>
            <a:endParaRPr lang="en-IN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I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Segmented student answer (JSON)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segment = one evaluable idea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F280C51-CD87-1780-031F-01692D639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7682" y="2915205"/>
            <a:ext cx="3842719" cy="1789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PROCESS:</a:t>
            </a: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Sentence splitting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Clause splitting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spaCy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Verb check for validity</a:t>
            </a: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Filters weak or irrelevant segments</a:t>
            </a:r>
          </a:p>
        </p:txBody>
      </p:sp>
    </p:spTree>
    <p:extLst>
      <p:ext uri="{BB962C8B-B14F-4D97-AF65-F5344CB8AC3E}">
        <p14:creationId xmlns:p14="http://schemas.microsoft.com/office/powerpoint/2010/main" val="2032140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C483D-749D-BFEF-8399-04505273D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87DEDC-9D1B-59E4-EB96-3D6619D10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" y="589280"/>
            <a:ext cx="11115040" cy="520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28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F87C1-88E7-B431-C376-572AA71D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6F94C-85F7-6C04-B0B0-1A1734213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382824"/>
            <a:ext cx="10058400" cy="1450757"/>
          </a:xfrm>
        </p:spPr>
        <p:txBody>
          <a:bodyPr/>
          <a:lstStyle/>
          <a:p>
            <a:r>
              <a:rPr lang="en-IN" dirty="0"/>
              <a:t>CONCEPT – SENTENCE MATCHING MODULE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E683618D-7F0B-5DE7-C366-9DD633FF6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7680" y="2719813"/>
            <a:ext cx="359664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dirty="0"/>
              <a:t>Extracted concepts (JSON)</a:t>
            </a:r>
            <a:endParaRPr lang="en-US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dirty="0"/>
              <a:t>Segmented student answer sentences</a:t>
            </a:r>
            <a:endParaRPr kumimoji="0" lang="en-I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Concept-wise best matched sentence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Semantic similarity scores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F4924C7-3564-F752-2263-CDCE80B97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7682" y="2581313"/>
            <a:ext cx="454151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Generate embeddings using </a:t>
            </a:r>
            <a:r>
              <a:rPr lang="en-US" b="1" dirty="0"/>
              <a:t>SBERT and </a:t>
            </a:r>
            <a:r>
              <a:rPr lang="en-US" b="1" dirty="0" err="1"/>
              <a:t>MPNet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Compute cosine similarity for each concept–sentence pair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Compare semantic performance of both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Select best-performing embedding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Choose highest similarity match per concept</a:t>
            </a:r>
          </a:p>
        </p:txBody>
      </p:sp>
    </p:spTree>
    <p:extLst>
      <p:ext uri="{BB962C8B-B14F-4D97-AF65-F5344CB8AC3E}">
        <p14:creationId xmlns:p14="http://schemas.microsoft.com/office/powerpoint/2010/main" val="15361900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E7B27-D827-7A8D-C23F-2C83BDAE7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B6837DF-4403-8210-FFBC-4C174D972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4160" y="2042160"/>
            <a:ext cx="12192000" cy="404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782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59B53-3C2F-9C19-9B46-25017509A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814D2-E06A-DCF7-897A-3D975BDC4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382824"/>
            <a:ext cx="10058400" cy="1450757"/>
          </a:xfrm>
        </p:spPr>
        <p:txBody>
          <a:bodyPr/>
          <a:lstStyle/>
          <a:p>
            <a:r>
              <a:rPr lang="en-IN" dirty="0"/>
              <a:t>SCORING AND CALIBRATION MODULE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94690E1E-F9A2-F395-07BB-39F526287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7680" y="2858313"/>
            <a:ext cx="359664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dirty="0"/>
              <a:t>Concept-wise similarity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dirty="0"/>
              <a:t>Question ID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dirty="0"/>
              <a:t>Score scale (e.g., 0–10)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I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Final predicted score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A71EAD8-D792-FC43-094C-5E12FBCF4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7682" y="2858314"/>
            <a:ext cx="433279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Aggregate similarity scores of all concepts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fixed-length feature vector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 trained regression (calibration)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 raw score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Normalize score to defined scale</a:t>
            </a:r>
          </a:p>
        </p:txBody>
      </p:sp>
    </p:spTree>
    <p:extLst>
      <p:ext uri="{BB962C8B-B14F-4D97-AF65-F5344CB8AC3E}">
        <p14:creationId xmlns:p14="http://schemas.microsoft.com/office/powerpoint/2010/main" val="32765435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B5BB2-A08E-F6EE-0D99-4FBBADD59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7E5697-24DC-27D9-D09D-1543BC64A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66" y="1307939"/>
            <a:ext cx="10058400" cy="48424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456F80-6619-69D0-1DEF-242A2BD94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MODULE DESCRIPTION</a:t>
            </a:r>
          </a:p>
        </p:txBody>
      </p:sp>
    </p:spTree>
    <p:extLst>
      <p:ext uri="{BB962C8B-B14F-4D97-AF65-F5344CB8AC3E}">
        <p14:creationId xmlns:p14="http://schemas.microsoft.com/office/powerpoint/2010/main" val="31329596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90DD4-7DEB-C932-1059-5B14057A6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720C0-87D0-6551-2550-2B8F9610A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382824"/>
            <a:ext cx="10058400" cy="1450757"/>
          </a:xfrm>
        </p:spPr>
        <p:txBody>
          <a:bodyPr/>
          <a:lstStyle/>
          <a:p>
            <a:r>
              <a:rPr lang="en-IN" dirty="0"/>
              <a:t>FEEDBACK  MODULE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1AD7AD97-C250-C777-A8D3-A05A71EF8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7680" y="2581315"/>
            <a:ext cx="359664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dirty="0"/>
              <a:t>Concept-wise similarity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dirty="0"/>
              <a:t>Final predicted score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dirty="0"/>
              <a:t>Extracted concepts &amp; matched segments</a:t>
            </a:r>
            <a:endParaRPr kumimoji="0" lang="en-I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Concept-wise feedback (Covered / Partial / Missing)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Overall qualitative feedback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8973647-A862-62BE-CE32-2ACCE3E7C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7682" y="2996814"/>
            <a:ext cx="433279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Classify each concept’s understanding level using similarity thresholds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Generate structured feedback using an LLM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Convert technical evaluation into human-readable English feedback</a:t>
            </a:r>
          </a:p>
        </p:txBody>
      </p:sp>
    </p:spTree>
    <p:extLst>
      <p:ext uri="{BB962C8B-B14F-4D97-AF65-F5344CB8AC3E}">
        <p14:creationId xmlns:p14="http://schemas.microsoft.com/office/powerpoint/2010/main" val="42597601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40E63-8658-E3C9-6C16-D2F290240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6F078-0DF7-7DFD-D483-F0D5D0F57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MODULE DESCRIPTION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66C2A5-6E2E-F59C-4991-573058F49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9105" y="2174956"/>
            <a:ext cx="7296262" cy="364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2718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EVALUATION METRICS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A12205-653A-AAE1-29B5-3AA02763A39F}"/>
              </a:ext>
            </a:extLst>
          </p:cNvPr>
          <p:cNvSpPr txBox="1"/>
          <p:nvPr/>
        </p:nvSpPr>
        <p:spPr>
          <a:xfrm>
            <a:off x="1036320" y="1672046"/>
            <a:ext cx="9942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EEBCA72-85FF-599B-8348-9BBD879E8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0080" y="1995211"/>
            <a:ext cx="10518987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RMSE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Measures numerical grading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Measures average grading error.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Pearson Correlation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Measures alignment with human grading.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Concept Coverage Accuracy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Measures correctness of concept extraction.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Semantic Similarity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Measures semantic match quality.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Explainability Coverage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Measures clarity of score justification.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Response Time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Measures grading speed for LMS use</a:t>
            </a:r>
          </a:p>
        </p:txBody>
      </p:sp>
    </p:spTree>
    <p:extLst>
      <p:ext uri="{BB962C8B-B14F-4D97-AF65-F5344CB8AC3E}">
        <p14:creationId xmlns:p14="http://schemas.microsoft.com/office/powerpoint/2010/main" val="29592469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6CE0BF-8BF6-81A6-F53D-BA0965404D2F}"/>
              </a:ext>
            </a:extLst>
          </p:cNvPr>
          <p:cNvSpPr txBox="1"/>
          <p:nvPr/>
        </p:nvSpPr>
        <p:spPr>
          <a:xfrm>
            <a:off x="691780" y="1653999"/>
            <a:ext cx="1080843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12221" lvl="1" indent="-306110">
              <a:lnSpc>
                <a:spcPts val="3969"/>
              </a:lnSpc>
              <a:buFont typeface="Arial"/>
              <a:buChar char="•"/>
            </a:pP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Explainable ASAG (ACL BEA 2023): aclanthology.org/2023.bea-1.29.pdf </a:t>
            </a:r>
            <a:r>
              <a:rPr lang="en-US" sz="2000" u="sng" dirty="0">
                <a:latin typeface="Open Sans"/>
                <a:ea typeface="Open Sans"/>
                <a:cs typeface="Open Sans"/>
                <a:sym typeface="Open Sans"/>
                <a:hlinkClick r:id="rId2" tooltip="https://aclanthology.org/2023.bea-1.29/?utm_source=chatgpt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ACL Anthology</a:t>
            </a:r>
          </a:p>
          <a:p>
            <a:pPr marL="612221" lvl="1" indent="-306110">
              <a:lnSpc>
                <a:spcPts val="3969"/>
              </a:lnSpc>
              <a:buFont typeface="Arial"/>
              <a:buChar char="•"/>
            </a:pP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ASAG with SBERT (EDM 2021): EDM21_paper_149.pdf </a:t>
            </a:r>
            <a:r>
              <a:rPr lang="en-US" sz="2000" u="sng" dirty="0">
                <a:latin typeface="Open Sans"/>
                <a:ea typeface="Open Sans"/>
                <a:cs typeface="Open Sans"/>
                <a:sym typeface="Open Sans"/>
                <a:hlinkClick r:id="rId3" tooltip="https://educationaldatamining.org/EDM2021/virtual/static/pdf/EDM21_paper_149.pdf?utm_source=chatgpt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educationaldatamining.org</a:t>
            </a:r>
          </a:p>
          <a:p>
            <a:pPr marL="612221" lvl="1" indent="-306110">
              <a:lnSpc>
                <a:spcPts val="3969"/>
              </a:lnSpc>
              <a:buFont typeface="Arial"/>
              <a:buChar char="•"/>
            </a:pP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BERT for ASAG (PMC article): pmc.ncbi.nlm.nih.gov/articles/PMC7334737 </a:t>
            </a:r>
            <a:r>
              <a:rPr lang="en-US" sz="2000" u="sng" dirty="0">
                <a:latin typeface="Open Sans"/>
                <a:ea typeface="Open Sans"/>
                <a:cs typeface="Open Sans"/>
                <a:sym typeface="Open Sans"/>
                <a:hlinkClick r:id="rId4" tooltip="https://pmc.ncbi.nlm.nih.gov/articles/PMC7334737/?utm_source=chatgpt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PMC</a:t>
            </a:r>
          </a:p>
          <a:p>
            <a:pPr marL="612221" lvl="1" indent="-306110">
              <a:lnSpc>
                <a:spcPts val="3969"/>
              </a:lnSpc>
              <a:buFont typeface="Arial"/>
              <a:buChar char="•"/>
            </a:pP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ASAG Survey (ERIC PDF): files.eric.ed.gov/</a:t>
            </a:r>
            <a:r>
              <a:rPr lang="en-US" sz="2000" dirty="0" err="1">
                <a:latin typeface="Open Sans"/>
                <a:ea typeface="Open Sans"/>
                <a:cs typeface="Open Sans"/>
                <a:sym typeface="Open Sans"/>
              </a:rPr>
              <a:t>fulltext</a:t>
            </a: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/EJ1424258.pdf </a:t>
            </a:r>
            <a:r>
              <a:rPr lang="en-US" sz="2000" u="sng" dirty="0">
                <a:latin typeface="Open Sans"/>
                <a:ea typeface="Open Sans"/>
                <a:cs typeface="Open Sans"/>
                <a:sym typeface="Open Sans"/>
                <a:hlinkClick r:id="rId5" tooltip="https://files.eric.ed.gov/fulltext/EJ1424258.pdf?utm_source=chatgpt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ERIC</a:t>
            </a:r>
          </a:p>
          <a:p>
            <a:pPr marL="612221" lvl="1" indent="-306110">
              <a:lnSpc>
                <a:spcPts val="3969"/>
              </a:lnSpc>
              <a:buFont typeface="Arial"/>
              <a:buChar char="•"/>
            </a:pP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Universal ASAG Model (JISEM 2024): jisem-journal.com/article/view/11686 </a:t>
            </a:r>
            <a:r>
              <a:rPr lang="en-US" sz="2000" u="sng" dirty="0">
                <a:latin typeface="Open Sans"/>
                <a:ea typeface="Open Sans"/>
                <a:cs typeface="Open Sans"/>
                <a:sym typeface="Open Sans"/>
                <a:hlinkClick r:id="rId6" tooltip="https://jisem-journal.com/index.php/journal/article/view/11686?utm_source=chatgpt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JISEM Journal</a:t>
            </a:r>
          </a:p>
          <a:p>
            <a:pPr marL="612221" lvl="1" indent="-306110">
              <a:lnSpc>
                <a:spcPts val="3969"/>
              </a:lnSpc>
              <a:buFont typeface="Arial"/>
              <a:buChar char="•"/>
            </a:pP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ASAG + Feedback Dataset (</a:t>
            </a:r>
            <a:r>
              <a:rPr lang="en-US" sz="2000" dirty="0" err="1">
                <a:latin typeface="Open Sans"/>
                <a:ea typeface="Open Sans"/>
                <a:cs typeface="Open Sans"/>
                <a:sym typeface="Open Sans"/>
              </a:rPr>
              <a:t>ArXiv</a:t>
            </a: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): arxiv.org/html/2407.12818v1 </a:t>
            </a:r>
            <a:r>
              <a:rPr lang="en-US" sz="2000" u="sng" dirty="0" err="1">
                <a:latin typeface="Open Sans"/>
                <a:ea typeface="Open Sans"/>
                <a:cs typeface="Open Sans"/>
                <a:sym typeface="Open Sans"/>
                <a:hlinkClick r:id="rId7" tooltip="https://arxiv.org/html/2407.12818v1?utm_source=chatgpt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</a:t>
            </a:r>
            <a:endParaRPr lang="en-US" sz="2000" u="sng" dirty="0">
              <a:latin typeface="Open Sans"/>
              <a:ea typeface="Open Sans"/>
              <a:cs typeface="Open Sans"/>
              <a:sym typeface="Open Sans"/>
              <a:hlinkClick r:id="rId7" tooltip="https://arxiv.org/html/2407.12818v1?utm_source=chatgpt.com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612221" lvl="1" indent="-306110">
              <a:lnSpc>
                <a:spcPts val="3969"/>
              </a:lnSpc>
              <a:buFont typeface="Arial"/>
              <a:buChar char="•"/>
            </a:pP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BERT-based ASAG (ResearchGate): researchgate.net/publication/360734349 </a:t>
            </a:r>
            <a:r>
              <a:rPr lang="en-US" sz="2000" u="sng" dirty="0">
                <a:latin typeface="Open Sans"/>
                <a:ea typeface="Open Sans"/>
                <a:cs typeface="Open Sans"/>
                <a:sym typeface="Open Sans"/>
                <a:hlinkClick r:id="rId8" tooltip="https://www.researchgate.net/publication/360734349_Automatic_Short_Answer_Grading_via_BERT-based_Deep_Neural_Networks?utm_source=chatgpt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ResearchGate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91956719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4385</TotalTime>
  <Words>1020</Words>
  <Application>Microsoft Office PowerPoint</Application>
  <PresentationFormat>Widescreen</PresentationFormat>
  <Paragraphs>178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CAT Neuzeit</vt:lpstr>
      <vt:lpstr>Open Sans</vt:lpstr>
      <vt:lpstr>Times New Roman</vt:lpstr>
      <vt:lpstr>Retrospect</vt:lpstr>
      <vt:lpstr>AUTOMATIC EVALUATION OF SHORT DESCRIPTIVE ANSWERS </vt:lpstr>
      <vt:lpstr>INTRODUCTION</vt:lpstr>
      <vt:lpstr>PROBLEM STATEMENT</vt:lpstr>
      <vt:lpstr>BASE PAPER</vt:lpstr>
      <vt:lpstr>PowerPoint Presentation</vt:lpstr>
      <vt:lpstr>DATASET</vt:lpstr>
      <vt:lpstr>USER INTERFACE MODULE</vt:lpstr>
      <vt:lpstr>PowerPoint Presentation</vt:lpstr>
      <vt:lpstr>PREPROCESSING MODULE</vt:lpstr>
      <vt:lpstr>PowerPoint Presentation</vt:lpstr>
      <vt:lpstr>CONCEPT EXTRACTION MODULE</vt:lpstr>
      <vt:lpstr>PowerPoint Presentation</vt:lpstr>
      <vt:lpstr>ANSWER SEGMENTATION MODULE</vt:lpstr>
      <vt:lpstr>PowerPoint Presentation</vt:lpstr>
      <vt:lpstr>CONCEPT – SENTENCE MATCHING MODULE</vt:lpstr>
      <vt:lpstr>PowerPoint Presentation</vt:lpstr>
      <vt:lpstr>SCORING AND CALIBRATION MODULE</vt:lpstr>
      <vt:lpstr>MODULE DESCRIPTION</vt:lpstr>
      <vt:lpstr>FEEDBACK  MODULE</vt:lpstr>
      <vt:lpstr>MODULE DESCRIPTION</vt:lpstr>
      <vt:lpstr>EVALUATION METRICS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PROJECT</dc:title>
  <dc:creator>Windows User</dc:creator>
  <cp:lastModifiedBy>Manimegala Panju</cp:lastModifiedBy>
  <cp:revision>34</cp:revision>
  <dcterms:created xsi:type="dcterms:W3CDTF">2025-01-24T18:09:07Z</dcterms:created>
  <dcterms:modified xsi:type="dcterms:W3CDTF">2026-04-07T06:02:51Z</dcterms:modified>
</cp:coreProperties>
</file>